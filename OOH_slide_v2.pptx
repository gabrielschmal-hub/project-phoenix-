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computed from the OOH P&amp;L table: W&amp;D = Distribution &amp; Delivery + Warehouse; NC = GP - W&amp;D; Opex excl W&amp;D = Opex - W&amp;D. Per-case = line / volume. Discount rate = Discounts / GSR.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OOH: volume +7.9% vs PY, EBIT -6.7mio€ — price, mix &amp; logistics absorb 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9494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Out-of-Home Channel  ·  YTD August 2026  ·  mio€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1579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1247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9496" y="12984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 UC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9496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</a:t>
            </a:r>
            <a:pPr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-0.04m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06624" y="1051560"/>
            <a:ext cx="21579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1247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0" y="12984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333.4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34640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</a:t>
            </a:r>
            <a:pPr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1768" y="1051560"/>
            <a:ext cx="21579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11247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9784" y="12984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117.1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35.1%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9784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96912" y="1051560"/>
            <a:ext cx="2157984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11247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24928" y="12984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4928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 </a:t>
            </a:r>
            <a:pPr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92056" y="1051560"/>
            <a:ext cx="2157984" cy="914400"/>
          </a:xfrm>
          <a:prstGeom prst="rect">
            <a:avLst/>
          </a:prstGeom>
          <a:solidFill>
            <a:srgbClr val="F7F1F1"/>
          </a:solidFill>
          <a:ln w="15875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0072" y="112471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720072" y="12984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0.8%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0072" y="1691640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</a:t>
            </a:r>
            <a:pPr indent="0" marL="0">
              <a:buNone/>
            </a:pPr>
            <a:r>
              <a:rPr lang="en-US" sz="95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 </a:t>
            </a:r>
            <a:pPr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1945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cascade, from volume to EBIT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24414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YTD August, mio€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88720" y="5120640"/>
            <a:ext cx="67208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3291840"/>
            <a:ext cx="655320" cy="777240"/>
          </a:xfrm>
          <a:prstGeom prst="rect">
            <a:avLst/>
          </a:prstGeom>
          <a:solidFill>
            <a:srgbClr val="FAF7F7"/>
          </a:solidFill>
          <a:ln w="9525">
            <a:solidFill>
              <a:srgbClr val="E3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3291840"/>
            <a:ext cx="655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</a:t>
            </a:r>
            <a:endParaRPr lang="en-US" sz="15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UC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8872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3073446"/>
            <a:ext cx="448056" cy="2047194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5940" y="283570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333.4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32888" y="3073446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93548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831592" y="3073446"/>
            <a:ext cx="448056" cy="1328548"/>
          </a:xfrm>
          <a:prstGeom prst="rect">
            <a:avLst/>
          </a:prstGeom>
          <a:solidFill>
            <a:srgbClr val="D9D2D2"/>
          </a:solidFill>
          <a:ln w="12700">
            <a:solidFill>
              <a:srgbClr val="D9D2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52700" y="36279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-216.4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79648" y="4401994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268224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78352" y="4401994"/>
            <a:ext cx="448056" cy="718646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9460" y="416425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78352" y="4447714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26408" y="4401994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42900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25112" y="4401994"/>
            <a:ext cx="448056" cy="198160"/>
          </a:xfrm>
          <a:prstGeom prst="rect">
            <a:avLst/>
          </a:prstGeom>
          <a:solidFill>
            <a:srgbClr val="D9D2D2"/>
          </a:solidFill>
          <a:ln w="12700">
            <a:solidFill>
              <a:srgbClr val="D9D2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6220" y="415510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-32.3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73168" y="4600154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417576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Wareh. &amp; Distr.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71872" y="4600154"/>
            <a:ext cx="448056" cy="520486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92980" y="436241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71872" y="4645874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19928" y="4600154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92252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818632" y="4600154"/>
            <a:ext cx="448056" cy="462105"/>
          </a:xfrm>
          <a:prstGeom prst="rect">
            <a:avLst/>
          </a:prstGeom>
          <a:solidFill>
            <a:srgbClr val="D9D2D2"/>
          </a:solidFill>
          <a:ln w="12700">
            <a:solidFill>
              <a:srgbClr val="D9D2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9740" y="4721479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-75.3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266688" y="5062259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566928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excl. W&amp;D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65392" y="5062259"/>
            <a:ext cx="448056" cy="42160"/>
          </a:xfrm>
          <a:prstGeom prst="rect">
            <a:avLst/>
          </a:prstGeom>
          <a:solidFill>
            <a:srgbClr val="D9D2D2"/>
          </a:solidFill>
          <a:ln w="12700">
            <a:solidFill>
              <a:srgbClr val="D9D2D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86500" y="4815371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-6.9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13448" y="5104419"/>
            <a:ext cx="298704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641604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312152" y="5104419"/>
            <a:ext cx="448056" cy="32004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33260" y="4866675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987540" y="468379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 margin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162800" y="5175504"/>
            <a:ext cx="74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1480" y="5504688"/>
            <a:ext cx="722376" cy="329184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5504688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25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216152" y="5504688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1615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962912" y="5504688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6291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+17.1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70967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0967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3456432" y="5504688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5643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20319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0319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-3.8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94995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4995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69671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9671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44347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347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90232" y="5504688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90232" y="5504688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-6.7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11480" y="5888736"/>
            <a:ext cx="722376" cy="329184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888736"/>
            <a:ext cx="722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 6+6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216152" y="5888736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21615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-0.04m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962912" y="5888736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96291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270967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0967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45643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5643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420319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0319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494995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94995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5696712" y="5888736"/>
            <a:ext cx="691896" cy="329184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69671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644347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44347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190232" y="5888736"/>
            <a:ext cx="691896" cy="329184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190232" y="5888736"/>
            <a:ext cx="69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411480" y="627278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Variances: + = favourable to EBIT. Cost lines shown as impact on EBIT.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00100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9326880" y="2542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10149840" y="2542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10972800" y="25420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8001000" y="2788920"/>
            <a:ext cx="37490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001000" y="2834640"/>
            <a:ext cx="374904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55864" y="2834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/ UC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932688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10204704" y="286207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014984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11027664" y="286207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97280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055864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UC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932688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3.48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10204704" y="3136392"/>
            <a:ext cx="667512" cy="219456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14984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11027664" y="3136392"/>
            <a:ext cx="667512" cy="219456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097280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001000" y="3383280"/>
            <a:ext cx="374904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055864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/ UC</a:t>
            </a:r>
            <a:endParaRPr lang="en-US" sz="1000" dirty="0"/>
          </a:p>
        </p:txBody>
      </p:sp>
      <p:sp>
        <p:nvSpPr>
          <p:cNvPr id="125" name="Text 123"/>
          <p:cNvSpPr/>
          <p:nvPr/>
        </p:nvSpPr>
        <p:spPr>
          <a:xfrm>
            <a:off x="932688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204704" y="3410712"/>
            <a:ext cx="667512" cy="219456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14984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11027664" y="341071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0972800" y="3383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-0.09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8055864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W&amp;D / UC</a:t>
            </a:r>
            <a:endParaRPr lang="en-US" sz="1000" dirty="0"/>
          </a:p>
        </p:txBody>
      </p:sp>
      <p:sp>
        <p:nvSpPr>
          <p:cNvPr id="131" name="Text 129"/>
          <p:cNvSpPr/>
          <p:nvPr/>
        </p:nvSpPr>
        <p:spPr>
          <a:xfrm>
            <a:off x="932688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10204704" y="3685032"/>
            <a:ext cx="667512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14984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11027664" y="368503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972800" y="3657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8001000" y="3931920"/>
            <a:ext cx="374904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055864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/ UC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932688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10204704" y="3959352"/>
            <a:ext cx="667512" cy="219456"/>
          </a:xfrm>
          <a:prstGeom prst="rect">
            <a:avLst/>
          </a:prstGeom>
          <a:solidFill>
            <a:srgbClr val="E4F1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14984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11027664" y="395935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97280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8055864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000" dirty="0"/>
          </a:p>
        </p:txBody>
      </p:sp>
      <p:sp>
        <p:nvSpPr>
          <p:cNvPr id="144" name="Text 142"/>
          <p:cNvSpPr/>
          <p:nvPr/>
        </p:nvSpPr>
        <p:spPr>
          <a:xfrm>
            <a:off x="932688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10204704" y="4233672"/>
            <a:ext cx="667512" cy="219456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14984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0.0pp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11027664" y="4233672"/>
            <a:ext cx="667512" cy="219456"/>
          </a:xfrm>
          <a:prstGeom prst="rect">
            <a:avLst/>
          </a:prstGeom>
          <a:solidFill>
            <a:srgbClr val="F7E1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97280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+2.2pp</a:t>
            </a:r>
            <a:endParaRPr lang="en-US" sz="1000" dirty="0"/>
          </a:p>
        </p:txBody>
      </p:sp>
      <p:sp>
        <p:nvSpPr>
          <p:cNvPr id="149" name="Text 147"/>
          <p:cNvSpPr/>
          <p:nvPr/>
        </p:nvSpPr>
        <p:spPr>
          <a:xfrm>
            <a:off x="8001000" y="4645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vs PY</a:t>
            </a:r>
            <a:endParaRPr lang="en-US" sz="1300" dirty="0"/>
          </a:p>
        </p:txBody>
      </p:sp>
      <p:sp>
        <p:nvSpPr>
          <p:cNvPr id="150" name="Shape 148"/>
          <p:cNvSpPr/>
          <p:nvPr/>
        </p:nvSpPr>
        <p:spPr>
          <a:xfrm>
            <a:off x="8001000" y="4956048"/>
            <a:ext cx="54864" cy="310896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129016" y="4937760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+17.1: volume +24.9, offset by price &amp; mix -7.8 — Water +17% vs Sparkling +3% and higher discounts.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8001000" y="5358384"/>
            <a:ext cx="54864" cy="310896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129016" y="534009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+3.1: COGS/UC improves, but lower NSR/UC caps the gain; margin 36.0% → 35.1%.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8001000" y="5760720"/>
            <a:ext cx="54864" cy="310896"/>
          </a:xfrm>
          <a:prstGeom prst="rect">
            <a:avLst/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129016" y="574243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-0.7: W&amp;D +3.8 (fuel, indexation) erases the GP growth; margin 27.0% → 25.4%.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8001000" y="6163056"/>
            <a:ext cx="54864" cy="310896"/>
          </a:xfrm>
          <a:prstGeom prst="rect">
            <a:avLst/>
          </a:prstGeom>
          <a:solidFill>
            <a:srgbClr val="9900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129016" y="614476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 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-6.7: Opex +4.3 (Sales, Admin) and DME +1.7 (Olympics). vs RE +0.5.</a:t>
            </a:r>
            <a:endParaRPr lang="en-US" sz="900" dirty="0"/>
          </a:p>
        </p:txBody>
      </p:sp>
      <p:sp>
        <p:nvSpPr>
          <p:cNvPr id="158" name="Text 156"/>
          <p:cNvSpPr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BP 26: EBIT -5.4mio€ (not commented) · full P&amp;L table in appendix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2026-10-23T13:32:57Z</dcterms:created>
  <dcterms:modified xsi:type="dcterms:W3CDTF">2026-10-23T13:32:57Z</dcterms:modified>
</cp:coreProperties>
</file>